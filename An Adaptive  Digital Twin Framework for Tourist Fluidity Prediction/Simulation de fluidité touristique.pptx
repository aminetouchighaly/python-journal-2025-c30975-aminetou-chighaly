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7" r:id="rId4"/>
    <p:sldId id="279" r:id="rId5"/>
    <p:sldId id="258" r:id="rId6"/>
    <p:sldId id="259" r:id="rId7"/>
    <p:sldId id="261" r:id="rId8"/>
    <p:sldId id="267" r:id="rId9"/>
    <p:sldId id="281" r:id="rId10"/>
    <p:sldId id="282" r:id="rId11"/>
    <p:sldId id="262" r:id="rId12"/>
    <p:sldId id="263" r:id="rId13"/>
    <p:sldId id="283" r:id="rId14"/>
    <p:sldId id="284" r:id="rId15"/>
    <p:sldId id="285" r:id="rId16"/>
    <p:sldId id="308" r:id="rId17"/>
    <p:sldId id="286" r:id="rId18"/>
    <p:sldId id="293" r:id="rId19"/>
    <p:sldId id="287" r:id="rId20"/>
    <p:sldId id="289" r:id="rId21"/>
    <p:sldId id="290" r:id="rId22"/>
    <p:sldId id="291" r:id="rId23"/>
    <p:sldId id="292" r:id="rId24"/>
    <p:sldId id="288" r:id="rId25"/>
    <p:sldId id="309" r:id="rId26"/>
    <p:sldId id="294" r:id="rId27"/>
    <p:sldId id="295" r:id="rId28"/>
    <p:sldId id="298" r:id="rId29"/>
    <p:sldId id="296" r:id="rId30"/>
    <p:sldId id="297" r:id="rId31"/>
    <p:sldId id="310" r:id="rId32"/>
    <p:sldId id="299" r:id="rId33"/>
    <p:sldId id="300" r:id="rId34"/>
    <p:sldId id="301" r:id="rId35"/>
    <p:sldId id="302" r:id="rId36"/>
    <p:sldId id="303" r:id="rId37"/>
    <p:sldId id="304" r:id="rId38"/>
    <p:sldId id="306" r:id="rId39"/>
    <p:sldId id="305" r:id="rId40"/>
    <p:sldId id="307" r:id="rId4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493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58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52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04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8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8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7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0217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5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749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18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1D0EA-3782-437E-89CA-19242973D337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29993-EF4A-433E-9EF0-AABF26BABA8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90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382" y="2963862"/>
            <a:ext cx="10515600" cy="8322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3600" b="1" dirty="0" smtClean="0"/>
              <a:t>Digital </a:t>
            </a:r>
            <a:r>
              <a:rPr lang="fr-FR" sz="3600" b="1" dirty="0" err="1" smtClean="0"/>
              <a:t>twin</a:t>
            </a:r>
            <a:r>
              <a:rPr lang="fr-FR" sz="3600" b="1" dirty="0" smtClean="0"/>
              <a:t> et fluidité touristique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978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91" y="157308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Présentation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1" y="1066800"/>
            <a:ext cx="12046527" cy="511016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La gestion de la fluidité touristique repose sur un pipeline en plusieurs étapes </a:t>
            </a:r>
            <a:r>
              <a:rPr lang="fr-FR" dirty="0" smtClean="0"/>
              <a:t>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collecte </a:t>
            </a:r>
            <a:r>
              <a:rPr lang="fr-FR" dirty="0"/>
              <a:t>des données GPS, </a:t>
            </a:r>
            <a:endParaRPr lang="fr-FR" dirty="0" smtClean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simulation </a:t>
            </a:r>
            <a:r>
              <a:rPr lang="fr-FR" dirty="0"/>
              <a:t>des déplacements via des Digital </a:t>
            </a:r>
            <a:r>
              <a:rPr lang="fr-FR" dirty="0" err="1"/>
              <a:t>Twins</a:t>
            </a:r>
            <a:r>
              <a:rPr lang="fr-FR" dirty="0"/>
              <a:t>, </a:t>
            </a:r>
            <a:endParaRPr lang="fr-FR" dirty="0" smtClean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détection </a:t>
            </a:r>
            <a:r>
              <a:rPr lang="fr-FR" dirty="0"/>
              <a:t>des zones denses avec DBSCAN, </a:t>
            </a:r>
            <a:endParaRPr lang="fr-FR" dirty="0" smtClean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calcul </a:t>
            </a:r>
            <a:r>
              <a:rPr lang="fr-FR" dirty="0"/>
              <a:t>d’indicateurs de congestion, </a:t>
            </a:r>
            <a:endParaRPr lang="fr-FR" dirty="0" smtClean="0"/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puis </a:t>
            </a:r>
            <a:r>
              <a:rPr lang="fr-FR" dirty="0"/>
              <a:t>prise de décision pour optimiser les flux touristiques."</a:t>
            </a:r>
          </a:p>
        </p:txBody>
      </p:sp>
    </p:spTree>
    <p:extLst>
      <p:ext uri="{BB962C8B-B14F-4D97-AF65-F5344CB8AC3E}">
        <p14:creationId xmlns:p14="http://schemas.microsoft.com/office/powerpoint/2010/main" val="38659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73" y="240434"/>
            <a:ext cx="10515600" cy="701675"/>
          </a:xfrm>
        </p:spPr>
        <p:txBody>
          <a:bodyPr/>
          <a:lstStyle/>
          <a:p>
            <a:r>
              <a:rPr lang="fr-FR" dirty="0" smtClean="0"/>
              <a:t>Objectif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73" y="1233055"/>
            <a:ext cx="11076709" cy="5040890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fr-FR" dirty="0"/>
              <a:t>Créer un Digital </a:t>
            </a:r>
            <a:r>
              <a:rPr lang="fr-FR" dirty="0" err="1"/>
              <a:t>Twin</a:t>
            </a:r>
            <a:r>
              <a:rPr lang="fr-FR" dirty="0"/>
              <a:t> (jumeau numérique) de touristes afin de :</a:t>
            </a:r>
          </a:p>
          <a:p>
            <a:pPr>
              <a:lnSpc>
                <a:spcPct val="200000"/>
              </a:lnSpc>
            </a:pPr>
            <a:r>
              <a:rPr lang="fr-FR" dirty="0"/>
              <a:t>Simuler leurs déplacements </a:t>
            </a:r>
          </a:p>
          <a:p>
            <a:pPr>
              <a:lnSpc>
                <a:spcPct val="200000"/>
              </a:lnSpc>
            </a:pPr>
            <a:r>
              <a:rPr lang="fr-FR" dirty="0"/>
              <a:t>Analyser la fluidité touristique </a:t>
            </a:r>
          </a:p>
          <a:p>
            <a:pPr>
              <a:lnSpc>
                <a:spcPct val="200000"/>
              </a:lnSpc>
            </a:pPr>
            <a:r>
              <a:rPr lang="fr-FR" dirty="0"/>
              <a:t>Détecter les zones </a:t>
            </a:r>
            <a:r>
              <a:rPr lang="fr-FR" dirty="0" smtClean="0"/>
              <a:t>fluides et congestionnées</a:t>
            </a:r>
          </a:p>
          <a:p>
            <a:pPr>
              <a:lnSpc>
                <a:spcPct val="200000"/>
              </a:lnSpc>
            </a:pPr>
            <a:r>
              <a:rPr lang="fr-FR" dirty="0"/>
              <a:t>Proposer des solutions d’optimisation</a:t>
            </a:r>
          </a:p>
        </p:txBody>
      </p:sp>
    </p:spTree>
    <p:extLst>
      <p:ext uri="{BB962C8B-B14F-4D97-AF65-F5344CB8AC3E}">
        <p14:creationId xmlns:p14="http://schemas.microsoft.com/office/powerpoint/2010/main" val="337269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18" y="138545"/>
            <a:ext cx="11852563" cy="831273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Architecture Digital </a:t>
            </a:r>
            <a:r>
              <a:rPr lang="fr-FR" sz="3600" b="1" dirty="0" err="1"/>
              <a:t>Twin</a:t>
            </a:r>
            <a:r>
              <a:rPr lang="fr-FR" sz="3600" b="1" dirty="0"/>
              <a:t> &amp; Fluidité Touristique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717" y="1094508"/>
            <a:ext cx="11745191" cy="5514109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 smtClean="0"/>
              <a:t>Couche </a:t>
            </a:r>
            <a:r>
              <a:rPr lang="fr-FR" dirty="0"/>
              <a:t>Données (Data Layer) </a:t>
            </a:r>
            <a:r>
              <a:rPr lang="fr-FR" dirty="0" smtClean="0"/>
              <a:t>data_process.py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 smtClean="0"/>
              <a:t>Couche </a:t>
            </a:r>
            <a:r>
              <a:rPr lang="fr-FR" dirty="0"/>
              <a:t>Jumeau Numérique (Digital </a:t>
            </a:r>
            <a:r>
              <a:rPr lang="fr-FR" dirty="0" err="1"/>
              <a:t>Twin</a:t>
            </a:r>
            <a:r>
              <a:rPr lang="fr-FR" dirty="0"/>
              <a:t> Layer) digital_twin.py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 smtClean="0"/>
              <a:t>Couche Simulation Multi Touristes SimulationEngine.py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/>
              <a:t>Couche </a:t>
            </a:r>
            <a:r>
              <a:rPr lang="fr-FR" dirty="0" smtClean="0"/>
              <a:t>Analyse de fluidité dbscan_hotposts.py et fluidity_analysis.py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 smtClean="0"/>
              <a:t>Couche de visualisation visualisation_fluidity.py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fr-FR" dirty="0" smtClean="0"/>
              <a:t>Couche </a:t>
            </a:r>
            <a:r>
              <a:rPr lang="fr-FR" dirty="0" err="1" smtClean="0"/>
              <a:t>feedBack</a:t>
            </a:r>
            <a:r>
              <a:rPr lang="fr-FR" dirty="0" smtClean="0"/>
              <a:t> Loop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91" y="157307"/>
            <a:ext cx="10515600" cy="660112"/>
          </a:xfrm>
        </p:spPr>
        <p:txBody>
          <a:bodyPr>
            <a:normAutofit fontScale="90000"/>
          </a:bodyPr>
          <a:lstStyle/>
          <a:p>
            <a:pPr marL="514350" indent="-514350"/>
            <a:r>
              <a:rPr lang="fr-FR" dirty="0" smtClean="0"/>
              <a:t>Couche 1:Data Layer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1" y="1191491"/>
            <a:ext cx="11907982" cy="580505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Phase 1:Chargement de données </a:t>
            </a:r>
            <a:r>
              <a:rPr lang="fr-FR" dirty="0" err="1"/>
              <a:t>GeoLife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Lecture de tous les fichiers .</a:t>
            </a:r>
            <a:r>
              <a:rPr lang="fr-FR" dirty="0" err="1" smtClean="0"/>
              <a:t>plt</a:t>
            </a:r>
            <a:r>
              <a:rPr lang="fr-FR" dirty="0" smtClean="0"/>
              <a:t> pour un seul utilisateur(001)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Chaque fichier .</a:t>
            </a:r>
            <a:r>
              <a:rPr lang="fr-FR" dirty="0" err="1" smtClean="0"/>
              <a:t>plt</a:t>
            </a:r>
            <a:r>
              <a:rPr lang="fr-FR" dirty="0" smtClean="0"/>
              <a:t>=une trajectoire GPS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Lecture des données utiles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Récupération de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smtClean="0"/>
              <a:t>Long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 smtClean="0"/>
              <a:t>lat</a:t>
            </a:r>
            <a:endParaRPr lang="fr-FR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/>
              <a:t>a</a:t>
            </a:r>
            <a:r>
              <a:rPr lang="fr-FR" dirty="0" err="1" smtClean="0"/>
              <a:t>lt</a:t>
            </a:r>
            <a:endParaRPr lang="fr-FR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 err="1" smtClean="0"/>
              <a:t>date+time</a:t>
            </a: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Transformation des </a:t>
            </a:r>
            <a:r>
              <a:rPr lang="fr-FR" dirty="0"/>
              <a:t>données en temps </a:t>
            </a:r>
            <a:r>
              <a:rPr lang="fr-FR" dirty="0" smtClean="0"/>
              <a:t>exploitable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Fusion des fichiers</a:t>
            </a:r>
          </a:p>
        </p:txBody>
      </p:sp>
    </p:spTree>
    <p:extLst>
      <p:ext uri="{BB962C8B-B14F-4D97-AF65-F5344CB8AC3E}">
        <p14:creationId xmlns:p14="http://schemas.microsoft.com/office/powerpoint/2010/main" val="164918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2" y="171161"/>
            <a:ext cx="10515600" cy="632403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1:Data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1371600"/>
            <a:ext cx="11817927" cy="636486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Phase 2:nettoyage des données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Suppression des doublons pour éviter les erreurs de calcul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Suppression des </a:t>
            </a:r>
            <a:r>
              <a:rPr lang="fr-FR" dirty="0" smtClean="0"/>
              <a:t>coordonnées invalides</a:t>
            </a:r>
          </a:p>
          <a:p>
            <a:pPr marL="0" indent="0">
              <a:buNone/>
            </a:pPr>
            <a:endParaRPr lang="fr-FR" dirty="0" smtClean="0"/>
          </a:p>
          <a:p>
            <a:pPr marL="514350" indent="-51435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989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81891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1:Data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3" y="706581"/>
            <a:ext cx="11090564" cy="535954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Phase 3:Analyse </a:t>
            </a:r>
            <a:r>
              <a:rPr lang="fr-FR" dirty="0" smtClean="0"/>
              <a:t>de </a:t>
            </a:r>
            <a:r>
              <a:rPr lang="fr-FR" dirty="0"/>
              <a:t>mouvement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Calcul </a:t>
            </a:r>
            <a:r>
              <a:rPr lang="fr-FR" dirty="0"/>
              <a:t>de distance (</a:t>
            </a:r>
            <a:r>
              <a:rPr lang="fr-FR" dirty="0" err="1"/>
              <a:t>Haversine</a:t>
            </a:r>
            <a:r>
              <a:rPr lang="fr-FR" dirty="0" smtClean="0"/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Calcul du temps entre deux points en heures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Calcul de vitesse réelle de touriste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Nettoyage des valeurs </a:t>
            </a:r>
            <a:r>
              <a:rPr lang="fr-FR" dirty="0" smtClean="0"/>
              <a:t>aberrantes(la vitesse doit être inférieur à 150)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Classification de comportement: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 </a:t>
            </a:r>
            <a:r>
              <a:rPr lang="fr-FR" dirty="0" smtClean="0"/>
              <a:t> stop si la vitesse</a:t>
            </a:r>
            <a:r>
              <a:rPr lang="en-ZA" dirty="0" smtClean="0"/>
              <a:t>&lt;1</a:t>
            </a:r>
            <a:endParaRPr lang="fr-FR" dirty="0" smtClean="0"/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  Walk  vitesse&lt;5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   move vitesse&gt;5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Ajout du comportement dans notre </a:t>
            </a:r>
            <a:r>
              <a:rPr lang="fr-FR" dirty="0" err="1" smtClean="0"/>
              <a:t>dataframe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063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27" y="1"/>
            <a:ext cx="10515600" cy="817418"/>
          </a:xfrm>
        </p:spPr>
        <p:txBody>
          <a:bodyPr/>
          <a:lstStyle/>
          <a:p>
            <a:r>
              <a:rPr lang="fr-FR" dirty="0" smtClean="0"/>
              <a:t>Résultat</a:t>
            </a: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691" y="1488497"/>
            <a:ext cx="7758545" cy="4649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073" y="1066800"/>
            <a:ext cx="3172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Un fichier cleaned_data.csv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37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143452"/>
            <a:ext cx="10515600" cy="438439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2:Digital </a:t>
            </a:r>
            <a:r>
              <a:rPr lang="fr-FR" dirty="0" err="1"/>
              <a:t>Twin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3" y="817418"/>
            <a:ext cx="11748654" cy="579119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cette couche sert à :</a:t>
            </a:r>
          </a:p>
          <a:p>
            <a:r>
              <a:rPr lang="fr-FR" dirty="0"/>
              <a:t>Transformer chaque utilisateur (</a:t>
            </a:r>
            <a:r>
              <a:rPr lang="fr-FR" dirty="0" err="1"/>
              <a:t>Geolife</a:t>
            </a:r>
            <a:r>
              <a:rPr lang="fr-FR" dirty="0"/>
              <a:t>) en agent intelligent </a:t>
            </a:r>
          </a:p>
          <a:p>
            <a:r>
              <a:rPr lang="fr-FR" dirty="0"/>
              <a:t>Simuler son comportement dans le temps </a:t>
            </a:r>
          </a:p>
          <a:p>
            <a:r>
              <a:rPr lang="fr-FR" dirty="0"/>
              <a:t>Suivre : </a:t>
            </a:r>
          </a:p>
          <a:p>
            <a:pPr lvl="1"/>
            <a:r>
              <a:rPr lang="fr-FR" dirty="0"/>
              <a:t>sa position (</a:t>
            </a:r>
            <a:r>
              <a:rPr lang="fr-FR" dirty="0" err="1"/>
              <a:t>lat</a:t>
            </a:r>
            <a:r>
              <a:rPr lang="fr-FR" dirty="0"/>
              <a:t>, </a:t>
            </a:r>
            <a:r>
              <a:rPr lang="fr-FR" dirty="0" err="1"/>
              <a:t>lon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sa vitesse </a:t>
            </a:r>
          </a:p>
          <a:p>
            <a:pPr lvl="1"/>
            <a:r>
              <a:rPr lang="fr-FR" dirty="0"/>
              <a:t>son état (arrêt, déplacement, visite</a:t>
            </a:r>
            <a:r>
              <a:rPr lang="fr-FR" dirty="0" smtClean="0"/>
              <a:t>…)</a:t>
            </a:r>
          </a:p>
          <a:p>
            <a:pPr marL="457200" lvl="1" indent="0">
              <a:buNone/>
            </a:pPr>
            <a:endParaRPr lang="fr-FR" dirty="0" smtClean="0"/>
          </a:p>
          <a:p>
            <a:pPr marL="457200" lvl="1" indent="0">
              <a:buNone/>
            </a:pPr>
            <a:r>
              <a:rPr lang="fr-FR" b="1" i="1" dirty="0" smtClean="0">
                <a:solidFill>
                  <a:srgbClr val="FF0000"/>
                </a:solidFill>
              </a:rPr>
              <a:t>Digital </a:t>
            </a:r>
            <a:r>
              <a:rPr lang="fr-FR" b="1" i="1" dirty="0" err="1">
                <a:solidFill>
                  <a:srgbClr val="FF0000"/>
                </a:solidFill>
              </a:rPr>
              <a:t>Twin</a:t>
            </a:r>
            <a:r>
              <a:rPr lang="fr-FR" b="1" i="1" dirty="0">
                <a:solidFill>
                  <a:srgbClr val="FF0000"/>
                </a:solidFill>
              </a:rPr>
              <a:t> Layer = agents vivants qui utilisent </a:t>
            </a:r>
            <a:r>
              <a:rPr lang="fr-FR" b="1" i="1" dirty="0" smtClean="0">
                <a:solidFill>
                  <a:srgbClr val="FF0000"/>
                </a:solidFill>
              </a:rPr>
              <a:t>les données de Data Layer</a:t>
            </a:r>
            <a:endParaRPr lang="fr-FR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324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9" y="0"/>
            <a:ext cx="10515600" cy="526473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2:Digital </a:t>
            </a:r>
            <a:r>
              <a:rPr lang="fr-FR" dirty="0" err="1"/>
              <a:t>Twin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09" y="1205345"/>
            <a:ext cx="11852564" cy="544483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Cette couche est structuré comme un </a:t>
            </a:r>
            <a:r>
              <a:rPr lang="fr-FR" b="1" dirty="0"/>
              <a:t>cycle de simulation d’un touriste virtuel</a:t>
            </a:r>
            <a:r>
              <a:rPr lang="fr-FR" dirty="0"/>
              <a:t>. On peut le comprendre en </a:t>
            </a:r>
            <a:r>
              <a:rPr lang="fr-FR" b="1" dirty="0"/>
              <a:t>4 grandes étapes logiques</a:t>
            </a:r>
            <a:r>
              <a:rPr lang="fr-FR" dirty="0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Initialisation du Digital </a:t>
            </a:r>
            <a:r>
              <a:rPr lang="fr-FR" dirty="0" err="1" smtClean="0"/>
              <a:t>Twin</a:t>
            </a:r>
            <a:endParaRPr lang="fr-FR" dirty="0" smtClean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Vérification de fin de </a:t>
            </a:r>
            <a:r>
              <a:rPr lang="fr-FR" dirty="0" smtClean="0"/>
              <a:t>simulation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Lecture et mise à jour de </a:t>
            </a:r>
            <a:r>
              <a:rPr lang="fr-FR" dirty="0" smtClean="0"/>
              <a:t>l’état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Historique+progression+sortie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439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2" y="101889"/>
            <a:ext cx="10515600" cy="4661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Couche 2:Digital </a:t>
            </a:r>
            <a:r>
              <a:rPr lang="fr-FR" dirty="0" err="1"/>
              <a:t>Twin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720436"/>
            <a:ext cx="11804073" cy="5943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Création du jumeau numérique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/>
              <a:t>Initialisation du </a:t>
            </a:r>
            <a:r>
              <a:rPr lang="fr-FR" sz="2400" dirty="0" smtClean="0"/>
              <a:t>touriste</a:t>
            </a:r>
          </a:p>
          <a:p>
            <a:pPr marL="0" indent="0">
              <a:buNone/>
            </a:pPr>
            <a:r>
              <a:rPr lang="fr-FR" sz="2400" dirty="0"/>
              <a:t>On crée un touriste prêt à être simulé</a:t>
            </a:r>
          </a:p>
          <a:p>
            <a:pPr marL="514350" indent="-514350"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403928" y="5959825"/>
            <a:ext cx="5830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/>
              <a:t>Le touriste existe… mais ne bouge pas encore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88773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1037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88109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089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Catégorie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Attribut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Rôle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19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Identité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identifiant 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54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Données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df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dataset du touriste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958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index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Compteur</a:t>
                      </a:r>
                      <a:r>
                        <a:rPr lang="fr-FR" baseline="0" dirty="0" smtClean="0"/>
                        <a:t> de suivi 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7751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État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current_state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comportement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81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current_position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lat/lon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82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Temps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current_time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instant actuel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458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Mouvement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current_speed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vitesse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401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Historique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trajectoire complète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21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15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2" y="101889"/>
            <a:ext cx="10515600" cy="4661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Couche 2:Digital </a:t>
            </a:r>
            <a:r>
              <a:rPr lang="fr-FR" dirty="0" err="1"/>
              <a:t>Twin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955964"/>
            <a:ext cx="11804073" cy="5708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2.Vérification </a:t>
            </a:r>
            <a:r>
              <a:rPr lang="fr-FR" sz="2400" dirty="0"/>
              <a:t>de fin de </a:t>
            </a:r>
            <a:r>
              <a:rPr lang="fr-FR" sz="2400" dirty="0" smtClean="0"/>
              <a:t>simulation</a:t>
            </a:r>
          </a:p>
          <a:p>
            <a:pPr marL="0" indent="0">
              <a:buNone/>
            </a:pPr>
            <a:r>
              <a:rPr lang="fr-FR" sz="2400" dirty="0"/>
              <a:t>Cette étape vérifie si le touriste a terminé son trajet</a:t>
            </a:r>
            <a:r>
              <a:rPr lang="fr-FR" sz="2400" dirty="0" smtClean="0"/>
              <a:t>.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3.</a:t>
            </a:r>
            <a:r>
              <a:rPr lang="fr-FR" sz="2400" dirty="0"/>
              <a:t> Lecture et mise à jour de l’état</a:t>
            </a:r>
          </a:p>
          <a:p>
            <a:pPr marL="0" indent="0">
              <a:buNone/>
            </a:pPr>
            <a:r>
              <a:rPr lang="fr-FR" sz="2400" dirty="0" smtClean="0"/>
              <a:t>récupérer </a:t>
            </a:r>
            <a:r>
              <a:rPr lang="fr-FR" sz="2400" dirty="0"/>
              <a:t>le point actuel du </a:t>
            </a:r>
            <a:r>
              <a:rPr lang="fr-FR" sz="2400" dirty="0" smtClean="0"/>
              <a:t>touriste - extraire </a:t>
            </a:r>
            <a:r>
              <a:rPr lang="fr-FR" sz="2400" dirty="0"/>
              <a:t>ses données puis mettre à jour l'état du </a:t>
            </a:r>
            <a:r>
              <a:rPr lang="fr-FR" sz="2400" dirty="0" smtClean="0"/>
              <a:t>touriste</a:t>
            </a:r>
          </a:p>
          <a:p>
            <a:pPr marL="0" indent="0">
              <a:buNone/>
            </a:pPr>
            <a:r>
              <a:rPr lang="fr-FR" sz="2400" dirty="0" smtClean="0"/>
              <a:t>4.</a:t>
            </a:r>
            <a:r>
              <a:rPr lang="fr-FR" sz="2400" dirty="0"/>
              <a:t> </a:t>
            </a:r>
            <a:r>
              <a:rPr lang="fr-FR" sz="2400" dirty="0" smtClean="0"/>
              <a:t>Historique+progression+sortie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garde toute la </a:t>
            </a:r>
            <a:r>
              <a:rPr lang="fr-FR" sz="2400" dirty="0" smtClean="0"/>
              <a:t>trajectoire-Avancer dans le temps-retour des données (output pour la simulation)</a:t>
            </a:r>
            <a:endParaRPr lang="fr-FR" sz="2400" dirty="0"/>
          </a:p>
          <a:p>
            <a:pPr marL="514350" indent="-514350">
              <a:buFont typeface="+mj-lt"/>
              <a:buAutoNum type="arabicPeriod"/>
            </a:pPr>
            <a:endParaRPr lang="fr-FR" sz="2400" dirty="0"/>
          </a:p>
          <a:p>
            <a:pPr marL="514350" indent="-514350"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403928" y="5959825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51192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43453"/>
            <a:ext cx="10515600" cy="770948"/>
          </a:xfrm>
        </p:spPr>
        <p:txBody>
          <a:bodyPr/>
          <a:lstStyle/>
          <a:p>
            <a:r>
              <a:rPr lang="fr-FR" dirty="0" smtClean="0"/>
              <a:t>Couche 3:</a:t>
            </a:r>
            <a:r>
              <a:rPr lang="fr-FR" dirty="0"/>
              <a:t> </a:t>
            </a:r>
            <a:r>
              <a:rPr lang="fr-FR" dirty="0" smtClean="0"/>
              <a:t>Simulation Multi </a:t>
            </a:r>
            <a:r>
              <a:rPr lang="fr-FR" dirty="0"/>
              <a:t>Touristes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357745"/>
            <a:ext cx="11596254" cy="5195455"/>
          </a:xfrm>
        </p:spPr>
        <p:txBody>
          <a:bodyPr/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Simuler </a:t>
            </a:r>
            <a:r>
              <a:rPr lang="fr-FR" dirty="0"/>
              <a:t>simultanément plusieurs touristes dans le temps et dans </a:t>
            </a:r>
            <a:r>
              <a:rPr lang="fr-FR" dirty="0" smtClean="0"/>
              <a:t>l’espace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C'est </a:t>
            </a:r>
            <a:r>
              <a:rPr lang="fr-FR" dirty="0"/>
              <a:t>une couche pour la </a:t>
            </a:r>
            <a:r>
              <a:rPr lang="fr-FR" dirty="0" smtClean="0"/>
              <a:t>génération </a:t>
            </a:r>
            <a:r>
              <a:rPr lang="fr-FR" dirty="0"/>
              <a:t>de données comportementales </a:t>
            </a:r>
            <a:r>
              <a:rPr lang="fr-FR" dirty="0" smtClean="0"/>
              <a:t>réalistes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r-FR" dirty="0" smtClean="0"/>
              <a:t>Cette couche produit un </a:t>
            </a:r>
            <a:r>
              <a:rPr lang="fr-FR" dirty="0"/>
              <a:t>fichier csv qui </a:t>
            </a:r>
            <a:r>
              <a:rPr lang="fr-FR" dirty="0" smtClean="0"/>
              <a:t>devient </a:t>
            </a:r>
            <a:r>
              <a:rPr lang="fr-FR" b="1" dirty="0"/>
              <a:t>l’entrée principale</a:t>
            </a:r>
            <a:r>
              <a:rPr lang="fr-FR" dirty="0"/>
              <a:t> de la couche </a:t>
            </a:r>
            <a:r>
              <a:rPr lang="fr-FR" dirty="0" smtClean="0"/>
              <a:t>de l'analyse de fluidité.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46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43453"/>
            <a:ext cx="10515600" cy="770948"/>
          </a:xfrm>
        </p:spPr>
        <p:txBody>
          <a:bodyPr/>
          <a:lstStyle/>
          <a:p>
            <a:r>
              <a:rPr lang="fr-FR" dirty="0" smtClean="0"/>
              <a:t>Couche 3:</a:t>
            </a:r>
            <a:r>
              <a:rPr lang="fr-FR" dirty="0"/>
              <a:t> </a:t>
            </a:r>
            <a:r>
              <a:rPr lang="fr-FR" dirty="0" smtClean="0"/>
              <a:t>Simulation Multi </a:t>
            </a:r>
            <a:r>
              <a:rPr lang="fr-FR" dirty="0"/>
              <a:t>Touristes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914401"/>
            <a:ext cx="11596254" cy="563879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 smtClean="0"/>
              <a:t>Initialisation: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fr-FR" sz="2000" dirty="0"/>
              <a:t>On charge les données et on crée 10 touristes virtuels avec un temps de simulation de 1000 étapes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 smtClean="0"/>
              <a:t>Début de la simulation: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/>
              <a:t> </a:t>
            </a:r>
            <a:r>
              <a:rPr lang="fr-FR" sz="2000" dirty="0" smtClean="0"/>
              <a:t> le </a:t>
            </a:r>
            <a:r>
              <a:rPr lang="fr-FR" sz="2000" dirty="0"/>
              <a:t>temps commence à avancer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000" dirty="0" smtClean="0"/>
              <a:t>  faire </a:t>
            </a:r>
            <a:r>
              <a:rPr lang="fr-FR" sz="2000" dirty="0"/>
              <a:t>évoluer tous les touristes dans le temps et enregistrer leurs </a:t>
            </a:r>
            <a:r>
              <a:rPr lang="fr-FR" sz="2000" dirty="0" smtClean="0"/>
              <a:t>mouvements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/>
              <a:t>chaque touriste avance d’un pas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si un agent a fini </a:t>
            </a:r>
            <a:r>
              <a:rPr lang="fr-FR" sz="2000" dirty="0" smtClean="0"/>
              <a:t>:on l’</a:t>
            </a:r>
            <a:r>
              <a:rPr lang="fr-FR" sz="2000" dirty="0" err="1" smtClean="0"/>
              <a:t>ignore,les</a:t>
            </a:r>
            <a:r>
              <a:rPr lang="fr-FR" sz="2000" dirty="0" smtClean="0"/>
              <a:t> </a:t>
            </a:r>
            <a:r>
              <a:rPr lang="fr-FR" sz="2000" dirty="0"/>
              <a:t>autres </a:t>
            </a:r>
            <a:r>
              <a:rPr lang="fr-FR" sz="2000" dirty="0" smtClean="0"/>
              <a:t>continuent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 smtClean="0"/>
              <a:t>on stocke :position comportement vitesse </a:t>
            </a:r>
            <a:r>
              <a:rPr lang="fr-FR" sz="2000" dirty="0" err="1" smtClean="0"/>
              <a:t>timestamp</a:t>
            </a:r>
            <a:endParaRPr lang="fr-FR" sz="20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si tous les touristes ont fini </a:t>
            </a:r>
            <a:r>
              <a:rPr lang="fr-FR" sz="2000" dirty="0" smtClean="0"/>
              <a:t>on </a:t>
            </a:r>
            <a:r>
              <a:rPr lang="fr-FR" sz="2000" dirty="0"/>
              <a:t>arrête la simulation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sz="2000" dirty="0"/>
          </a:p>
          <a:p>
            <a:endParaRPr lang="fr-FR" sz="2000" dirty="0"/>
          </a:p>
          <a:p>
            <a:pPr marL="0" indent="0">
              <a:lnSpc>
                <a:spcPct val="150000"/>
              </a:lnSpc>
              <a:buNone/>
            </a:pPr>
            <a:endParaRPr lang="fr-F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3793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43453"/>
            <a:ext cx="10515600" cy="770948"/>
          </a:xfrm>
        </p:spPr>
        <p:txBody>
          <a:bodyPr/>
          <a:lstStyle/>
          <a:p>
            <a:r>
              <a:rPr lang="fr-FR" dirty="0" smtClean="0"/>
              <a:t>Couche 3:</a:t>
            </a:r>
            <a:r>
              <a:rPr lang="fr-FR" dirty="0"/>
              <a:t> </a:t>
            </a:r>
            <a:r>
              <a:rPr lang="fr-FR" dirty="0" smtClean="0"/>
              <a:t>Simulation Multi </a:t>
            </a:r>
            <a:r>
              <a:rPr lang="fr-FR" dirty="0"/>
              <a:t>Touristes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329899"/>
            <a:ext cx="11596254" cy="5223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3.Construction des résultats</a:t>
            </a:r>
          </a:p>
          <a:p>
            <a:pPr marL="0" indent="0">
              <a:buNone/>
            </a:pPr>
            <a:r>
              <a:rPr lang="fr-FR" sz="2400" dirty="0"/>
              <a:t>transformer les données en table </a:t>
            </a:r>
            <a:r>
              <a:rPr lang="fr-FR" sz="2400" dirty="0" smtClean="0"/>
              <a:t>exploitable qui contient tous les touristes, toutes les positions, tous les instants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4.SAUVEGARDE </a:t>
            </a:r>
            <a:r>
              <a:rPr lang="fr-FR" sz="2400" dirty="0"/>
              <a:t>DES </a:t>
            </a:r>
            <a:r>
              <a:rPr lang="fr-FR" sz="2400" dirty="0" smtClean="0"/>
              <a:t>DONNÉES</a:t>
            </a:r>
          </a:p>
          <a:p>
            <a:pPr marL="0" indent="0">
              <a:buNone/>
            </a:pPr>
            <a:r>
              <a:rPr lang="fr-FR" sz="2400" dirty="0"/>
              <a:t>exporter le résultat de la </a:t>
            </a:r>
            <a:r>
              <a:rPr lang="fr-FR" sz="2400" dirty="0" smtClean="0"/>
              <a:t>simulation en un fichier csv contenant :</a:t>
            </a:r>
          </a:p>
          <a:p>
            <a:pPr marL="0" indent="0">
              <a:buNone/>
            </a:pPr>
            <a:r>
              <a:rPr lang="fr-FR" sz="2400" dirty="0" err="1" smtClean="0"/>
              <a:t>User_id,lat,lon,behavior,timestamp,speed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endParaRPr lang="fr-FR" sz="2400" dirty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721926" y="1329899"/>
            <a:ext cx="54448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96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43453"/>
            <a:ext cx="10515600" cy="770948"/>
          </a:xfrm>
        </p:spPr>
        <p:txBody>
          <a:bodyPr/>
          <a:lstStyle/>
          <a:p>
            <a:r>
              <a:rPr lang="fr-FR" dirty="0" smtClean="0"/>
              <a:t>Couche 3:</a:t>
            </a:r>
            <a:r>
              <a:rPr lang="fr-FR" dirty="0"/>
              <a:t> </a:t>
            </a:r>
            <a:r>
              <a:rPr lang="fr-FR" dirty="0" smtClean="0"/>
              <a:t>Simulation Multi </a:t>
            </a:r>
            <a:r>
              <a:rPr lang="fr-FR" dirty="0"/>
              <a:t>Touristes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329899"/>
            <a:ext cx="11596254" cy="5223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Résultat de cette couche:</a:t>
            </a:r>
          </a:p>
          <a:p>
            <a:pPr marL="0" indent="0">
              <a:buNone/>
            </a:pPr>
            <a:r>
              <a:rPr lang="fr-FR" sz="2400" dirty="0" smtClean="0"/>
              <a:t>Un fichier simulation_output.csv qui contient</a:t>
            </a:r>
          </a:p>
          <a:p>
            <a:pPr marL="0" indent="0">
              <a:buNone/>
            </a:pP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err="1"/>
              <a:t>user_id,lat,lon,behavior,timestamp,speed_kmh</a:t>
            </a:r>
            <a:r>
              <a:rPr lang="fr-FR" sz="2400" dirty="0"/>
              <a:t> 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endParaRPr lang="fr-FR" sz="2400" dirty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4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fr-FR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721926" y="1329899"/>
            <a:ext cx="54448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76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09" y="0"/>
            <a:ext cx="11499273" cy="660111"/>
          </a:xfrm>
        </p:spPr>
        <p:txBody>
          <a:bodyPr>
            <a:normAutofit fontScale="90000"/>
          </a:bodyPr>
          <a:lstStyle/>
          <a:p>
            <a:pPr marL="514350" indent="-514350">
              <a:lnSpc>
                <a:spcPct val="200000"/>
              </a:lnSpc>
            </a:pPr>
            <a:r>
              <a:rPr lang="fr-FR" dirty="0" smtClean="0"/>
              <a:t>Couche 4: </a:t>
            </a:r>
            <a:r>
              <a:rPr lang="fr-FR" dirty="0"/>
              <a:t>Analyse de </a:t>
            </a:r>
            <a:r>
              <a:rPr lang="fr-FR" dirty="0" smtClean="0"/>
              <a:t>fluidité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1011382"/>
            <a:ext cx="11748655" cy="550025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/>
              <a:t>transformer les mouvements des touristes (simulation) en connaissance sur les zones touristiques et leur </a:t>
            </a:r>
            <a:r>
              <a:rPr lang="fr-FR" dirty="0" smtClean="0"/>
              <a:t>dynamique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8654" y="2047448"/>
            <a:ext cx="5445080" cy="3026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Où les touristes se regroupent ?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Quelles zones sont saturées ?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Où la circulation est fluide ?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Quels comportements dominent ? </a:t>
            </a:r>
          </a:p>
        </p:txBody>
      </p:sp>
    </p:spTree>
    <p:extLst>
      <p:ext uri="{BB962C8B-B14F-4D97-AF65-F5344CB8AC3E}">
        <p14:creationId xmlns:p14="http://schemas.microsoft.com/office/powerpoint/2010/main" val="285721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1219200"/>
            <a:ext cx="11644746" cy="563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/>
              <a:t>simulation_output.csv → </a:t>
            </a:r>
            <a:r>
              <a:rPr lang="fr-FR" dirty="0" err="1"/>
              <a:t>clustering</a:t>
            </a:r>
            <a:r>
              <a:rPr lang="fr-FR" dirty="0"/>
              <a:t> DBSCAN → détection de </a:t>
            </a:r>
            <a:r>
              <a:rPr lang="fr-FR" dirty="0" err="1"/>
              <a:t>hotspots</a:t>
            </a:r>
            <a:r>
              <a:rPr lang="fr-FR" dirty="0"/>
              <a:t> → sauvegarde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9392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1066800"/>
            <a:ext cx="11644746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chargement des données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extraction des coordonnées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err="1" smtClean="0"/>
              <a:t>clustering</a:t>
            </a:r>
            <a:r>
              <a:rPr lang="fr-FR" dirty="0" smtClean="0"/>
              <a:t> avec </a:t>
            </a:r>
            <a:r>
              <a:rPr lang="fr-FR" dirty="0" err="1" smtClean="0"/>
              <a:t>dbscan</a:t>
            </a:r>
            <a:endParaRPr lang="fr-FR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application du </a:t>
            </a:r>
            <a:r>
              <a:rPr lang="fr-FR" dirty="0" err="1" smtClean="0"/>
              <a:t>clustering</a:t>
            </a:r>
            <a:endParaRPr lang="fr-FR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analyse des </a:t>
            </a:r>
            <a:r>
              <a:rPr lang="fr-FR" dirty="0" err="1" smtClean="0"/>
              <a:t>hotspots</a:t>
            </a:r>
            <a:endParaRPr lang="fr-FR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sauvegarde des résultats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669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1066800"/>
            <a:ext cx="11644746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extraction des coordonnées</a:t>
            </a:r>
          </a:p>
          <a:p>
            <a:pPr marL="0" indent="0">
              <a:buNone/>
            </a:pPr>
            <a:r>
              <a:rPr lang="fr-FR" dirty="0" smtClean="0"/>
              <a:t>On garde </a:t>
            </a:r>
            <a:r>
              <a:rPr lang="fr-FR" dirty="0"/>
              <a:t>uniquement :</a:t>
            </a:r>
          </a:p>
          <a:p>
            <a:r>
              <a:rPr lang="fr-FR" dirty="0"/>
              <a:t>latitude </a:t>
            </a:r>
          </a:p>
          <a:p>
            <a:r>
              <a:rPr lang="fr-FR" dirty="0"/>
              <a:t>longitude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parce </a:t>
            </a:r>
            <a:r>
              <a:rPr lang="fr-FR" dirty="0"/>
              <a:t>que </a:t>
            </a:r>
            <a:r>
              <a:rPr lang="fr-FR" b="1" dirty="0"/>
              <a:t>DBSCAN sert uniquement à analyser la position dans </a:t>
            </a:r>
            <a:r>
              <a:rPr lang="fr-FR" b="1" dirty="0" smtClean="0"/>
              <a:t>l’espace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6890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1275"/>
            <a:ext cx="11644746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err="1" smtClean="0"/>
              <a:t>clustering</a:t>
            </a:r>
            <a:r>
              <a:rPr lang="fr-FR" dirty="0" smtClean="0"/>
              <a:t> avec </a:t>
            </a:r>
            <a:r>
              <a:rPr lang="fr-FR" dirty="0" err="1" smtClean="0"/>
              <a:t>dbscan</a:t>
            </a:r>
            <a:r>
              <a:rPr lang="fr-FR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53290" y="2111094"/>
            <a:ext cx="10636438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/>
              <a:t>Le </a:t>
            </a:r>
            <a:r>
              <a:rPr lang="fr-FR" altLang="fr-FR" sz="2400" dirty="0" err="1"/>
              <a:t>clustering</a:t>
            </a:r>
            <a:r>
              <a:rPr lang="fr-FR" altLang="fr-FR" sz="2400" dirty="0"/>
              <a:t> (ou regroupement) est une technique qui sert à 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400" dirty="0"/>
              <a:t>regrouper des données similaires ensemble sans connaître les groupes à </a:t>
            </a:r>
            <a:r>
              <a:rPr lang="fr-FR" altLang="fr-FR" sz="2400" dirty="0" smtClean="0"/>
              <a:t>l’avance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800" dirty="0" smtClean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400" b="1" dirty="0"/>
              <a:t>DBSCAN</a:t>
            </a:r>
            <a:r>
              <a:rPr lang="fr-FR" altLang="fr-FR" sz="2400" dirty="0" smtClean="0"/>
              <a:t> </a:t>
            </a:r>
            <a:r>
              <a:rPr lang="fr-FR" sz="2400" dirty="0" smtClean="0"/>
              <a:t>est </a:t>
            </a:r>
            <a:r>
              <a:rPr lang="fr-FR" sz="2400" dirty="0"/>
              <a:t>un algorithme de </a:t>
            </a:r>
            <a:r>
              <a:rPr lang="fr-FR" sz="2400" b="1" dirty="0"/>
              <a:t>Machine Learning non </a:t>
            </a:r>
            <a:r>
              <a:rPr lang="fr-FR" sz="2400" b="1" dirty="0" smtClean="0"/>
              <a:t>supervisé</a:t>
            </a:r>
            <a:r>
              <a:rPr lang="fr-FR" sz="2400" dirty="0" smtClean="0"/>
              <a:t> </a:t>
            </a:r>
            <a:r>
              <a:rPr lang="fr-FR" sz="2400" dirty="0"/>
              <a:t>basé sur la densité, </a:t>
            </a:r>
            <a:endParaRPr lang="fr-FR" sz="2400" dirty="0" smtClean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2400" dirty="0" smtClean="0"/>
              <a:t>utilisé </a:t>
            </a:r>
            <a:r>
              <a:rPr lang="fr-FR" sz="2400" dirty="0"/>
              <a:t>pour détecter des clusters dans des données spatiales et identifier le bruit.</a:t>
            </a:r>
            <a:endParaRPr lang="fr-FR" altLang="fr-FR" sz="2400" dirty="0" smtClean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400" dirty="0"/>
          </a:p>
        </p:txBody>
      </p:sp>
      <p:sp>
        <p:nvSpPr>
          <p:cNvPr id="5" name="Rectangle 4"/>
          <p:cNvSpPr/>
          <p:nvPr/>
        </p:nvSpPr>
        <p:spPr>
          <a:xfrm>
            <a:off x="214745" y="2142254"/>
            <a:ext cx="11838710" cy="11499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3158836" y="4294909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14746" y="3865421"/>
            <a:ext cx="11838709" cy="14408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35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775856"/>
            <a:ext cx="11644746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smtClean="0"/>
              <a:t>Paramètres de </a:t>
            </a:r>
            <a:r>
              <a:rPr lang="fr-FR" dirty="0" err="1" smtClean="0"/>
              <a:t>dbscan</a:t>
            </a:r>
            <a:r>
              <a:rPr lang="fr-FR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 smtClean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7928" y="2047167"/>
            <a:ext cx="545623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fr-FR" altLang="fr-FR" sz="2400" dirty="0" err="1"/>
              <a:t>eps</a:t>
            </a:r>
            <a:endParaRPr lang="fr-FR" altLang="fr-FR" sz="24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dirty="0"/>
              <a:t>distance maximale entre deux points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dirty="0"/>
              <a:t>plus petit = clusters plus précis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87928" y="3410729"/>
            <a:ext cx="73523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2400" dirty="0" err="1"/>
              <a:t>min_samples</a:t>
            </a:r>
            <a:endParaRPr lang="fr-FR" altLang="fr-FR" sz="24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400" dirty="0"/>
              <a:t>nombre minimum de points pour former une zone </a:t>
            </a:r>
            <a:endParaRPr lang="fr-FR" altLang="fr-FR" sz="2400" dirty="0" smtClean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fr-FR" altLang="fr-FR" sz="24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7928" y="4908931"/>
            <a:ext cx="40805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fr-FR" altLang="fr-FR" sz="2400" dirty="0" err="1"/>
              <a:t>metric</a:t>
            </a:r>
            <a:r>
              <a:rPr lang="fr-FR" altLang="fr-FR" sz="2400" dirty="0"/>
              <a:t>="</a:t>
            </a:r>
            <a:r>
              <a:rPr lang="fr-FR" altLang="fr-FR" sz="2400" dirty="0" err="1"/>
              <a:t>haversine</a:t>
            </a:r>
            <a:r>
              <a:rPr lang="fr-FR" altLang="fr-FR" sz="2400" dirty="0"/>
              <a:t>"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dirty="0"/>
              <a:t>prend en compte la Terre </a:t>
            </a:r>
            <a:r>
              <a:rPr lang="fr-FR" altLang="fr-FR" sz="2400" dirty="0" smtClean="0"/>
              <a:t> </a:t>
            </a:r>
            <a:endParaRPr lang="fr-FR" altLang="fr-FR" sz="24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2400" dirty="0"/>
              <a:t>distance GPS réelle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400" dirty="0"/>
          </a:p>
        </p:txBody>
      </p:sp>
    </p:spTree>
    <p:extLst>
      <p:ext uri="{BB962C8B-B14F-4D97-AF65-F5344CB8AC3E}">
        <p14:creationId xmlns:p14="http://schemas.microsoft.com/office/powerpoint/2010/main" val="121142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8011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1066800"/>
            <a:ext cx="11644746" cy="5791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Détection </a:t>
            </a:r>
            <a:r>
              <a:rPr lang="fr-FR" dirty="0"/>
              <a:t>des zones (</a:t>
            </a:r>
            <a:r>
              <a:rPr lang="fr-FR" dirty="0" err="1"/>
              <a:t>Hotspots</a:t>
            </a:r>
            <a:r>
              <a:rPr lang="fr-FR" dirty="0" smtClean="0"/>
              <a:t>):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 smtClean="0"/>
              <a:t>application du </a:t>
            </a:r>
            <a:r>
              <a:rPr lang="fr-FR" dirty="0" err="1" smtClean="0"/>
              <a:t>clustering</a:t>
            </a:r>
            <a:endParaRPr lang="fr-FR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df</a:t>
            </a:r>
            <a:r>
              <a:rPr lang="fr-FR" i="1" dirty="0"/>
              <a:t>["cluster"] = </a:t>
            </a:r>
            <a:r>
              <a:rPr lang="fr-FR" i="1" dirty="0" err="1"/>
              <a:t>db.fit_predict</a:t>
            </a:r>
            <a:r>
              <a:rPr lang="fr-FR" i="1" dirty="0"/>
              <a:t>(</a:t>
            </a:r>
            <a:r>
              <a:rPr lang="fr-FR" i="1" dirty="0" err="1"/>
              <a:t>coords_rad</a:t>
            </a:r>
            <a:r>
              <a:rPr lang="fr-FR" i="1" dirty="0"/>
              <a:t>)</a:t>
            </a:r>
            <a:endParaRPr lang="fr-FR" i="1" dirty="0" smtClean="0"/>
          </a:p>
        </p:txBody>
      </p:sp>
    </p:spTree>
    <p:extLst>
      <p:ext uri="{BB962C8B-B14F-4D97-AF65-F5344CB8AC3E}">
        <p14:creationId xmlns:p14="http://schemas.microsoft.com/office/powerpoint/2010/main" val="83297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858982"/>
            <a:ext cx="11644746" cy="5694218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1.Détection des </a:t>
            </a:r>
            <a:r>
              <a:rPr lang="fr-FR" dirty="0" err="1" smtClean="0"/>
              <a:t>hotspots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14745" y="1457189"/>
            <a:ext cx="1138151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analyse des </a:t>
            </a:r>
            <a:r>
              <a:rPr lang="fr-FR" sz="2800" dirty="0" err="1" smtClean="0"/>
              <a:t>hotspots</a:t>
            </a:r>
            <a:r>
              <a:rPr lang="fr-FR" sz="2800" dirty="0" smtClean="0"/>
              <a:t>: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/>
              <a:t>transformer les clusters DBSCAN en zones touristiques (</a:t>
            </a:r>
            <a:r>
              <a:rPr lang="fr-FR" altLang="fr-FR" sz="2800" dirty="0" err="1"/>
              <a:t>hotspots</a:t>
            </a:r>
            <a:r>
              <a:rPr lang="fr-FR" altLang="fr-FR" sz="2800" dirty="0"/>
              <a:t>) avec :</a:t>
            </a:r>
          </a:p>
          <a:p>
            <a:pPr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2400" dirty="0"/>
              <a:t>position moyenne </a:t>
            </a:r>
          </a:p>
          <a:p>
            <a:pPr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2400" dirty="0"/>
              <a:t>taille </a:t>
            </a:r>
          </a:p>
          <a:p>
            <a:pPr lvl="1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fr-FR" altLang="fr-FR" sz="2400" dirty="0" smtClean="0"/>
              <a:t>classement</a:t>
            </a:r>
            <a:endParaRPr lang="fr-FR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/>
              <a:t>sauvegarde des résultats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49787" y="1200348"/>
            <a:ext cx="78464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40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858982"/>
            <a:ext cx="11644746" cy="5694218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1.Détection des </a:t>
            </a:r>
            <a:r>
              <a:rPr lang="fr-FR" dirty="0" err="1" smtClean="0"/>
              <a:t>hotspots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14745" y="1457189"/>
            <a:ext cx="113815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 smtClean="0"/>
              <a:t>Résultat :</a:t>
            </a:r>
          </a:p>
          <a:p>
            <a:pPr>
              <a:lnSpc>
                <a:spcPct val="150000"/>
              </a:lnSpc>
            </a:pPr>
            <a:r>
              <a:rPr lang="fr-FR" sz="2800" dirty="0" smtClean="0"/>
              <a:t>2 fichiers générés:</a:t>
            </a:r>
          </a:p>
          <a:p>
            <a:pPr>
              <a:lnSpc>
                <a:spcPct val="150000"/>
              </a:lnSpc>
            </a:pPr>
            <a:endParaRPr lang="fr-FR" sz="28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49787" y="1200348"/>
            <a:ext cx="78464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5" y="2940159"/>
            <a:ext cx="2445993" cy="114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45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858982"/>
            <a:ext cx="11644746" cy="5694218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2.Analyse de la fluidité</a:t>
            </a:r>
          </a:p>
          <a:p>
            <a:pPr marL="0" indent="0">
              <a:buNone/>
            </a:pPr>
            <a:r>
              <a:rPr lang="fr-FR" sz="2400" dirty="0"/>
              <a:t>transformer </a:t>
            </a:r>
            <a:r>
              <a:rPr lang="fr-FR" sz="2400" dirty="0" smtClean="0"/>
              <a:t>les </a:t>
            </a:r>
            <a:r>
              <a:rPr lang="fr-FR" sz="2400" dirty="0"/>
              <a:t>clusters en mesures de qualité de circulation </a:t>
            </a:r>
            <a:r>
              <a:rPr lang="fr-FR" sz="2400" dirty="0" smtClean="0"/>
              <a:t>touristique</a:t>
            </a:r>
            <a:endParaRPr lang="fr-FR" sz="2400" dirty="0"/>
          </a:p>
          <a:p>
            <a:pPr marL="0" indent="0">
              <a:buNone/>
            </a:pPr>
            <a:r>
              <a:rPr lang="fr-FR" sz="2400" dirty="0" smtClean="0"/>
              <a:t>On veux </a:t>
            </a:r>
            <a:r>
              <a:rPr lang="fr-FR" sz="2400" dirty="0"/>
              <a:t>répondre à :</a:t>
            </a:r>
          </a:p>
          <a:p>
            <a:r>
              <a:rPr lang="fr-FR" sz="2400" dirty="0"/>
              <a:t>Est-ce que la zone est fluide </a:t>
            </a:r>
            <a:r>
              <a:rPr lang="fr-FR" sz="2400" dirty="0" smtClean="0"/>
              <a:t>? </a:t>
            </a:r>
            <a:endParaRPr lang="fr-FR" sz="2400" dirty="0"/>
          </a:p>
          <a:p>
            <a:r>
              <a:rPr lang="fr-FR" sz="2400" dirty="0"/>
              <a:t>Est-ce qu’il y a congestion </a:t>
            </a:r>
            <a:r>
              <a:rPr lang="fr-FR" sz="2400" dirty="0" smtClean="0"/>
              <a:t>? </a:t>
            </a:r>
            <a:endParaRPr lang="fr-FR" sz="2400" dirty="0"/>
          </a:p>
          <a:p>
            <a:r>
              <a:rPr lang="fr-FR" sz="2400" dirty="0"/>
              <a:t>Où les touristes bloquent ?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1383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900544"/>
            <a:ext cx="11644746" cy="5652655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2.Analyse de la fluidité: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Chargement des données issues du </a:t>
            </a:r>
            <a:r>
              <a:rPr lang="fr-FR" dirty="0" err="1" smtClean="0"/>
              <a:t>clustering</a:t>
            </a:r>
            <a:endParaRPr lang="fr-FR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Nettoyage des </a:t>
            </a:r>
            <a:r>
              <a:rPr lang="fr-FR" dirty="0" smtClean="0"/>
              <a:t>données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Calcul des indicateurs par </a:t>
            </a:r>
            <a:r>
              <a:rPr lang="fr-FR" dirty="0" smtClean="0"/>
              <a:t>cluster:</a:t>
            </a:r>
          </a:p>
          <a:p>
            <a:pPr lvl="1"/>
            <a:r>
              <a:rPr lang="fr-FR" dirty="0"/>
              <a:t>vitesse moyenne</a:t>
            </a:r>
          </a:p>
          <a:p>
            <a:pPr marL="457200" lvl="1" indent="0">
              <a:buNone/>
            </a:pPr>
            <a:r>
              <a:rPr lang="fr-FR" dirty="0" smtClean="0"/>
              <a:t> </a:t>
            </a:r>
            <a:r>
              <a:rPr lang="fr-FR" dirty="0"/>
              <a:t>mesure la vitesse globale dans chaque zone</a:t>
            </a:r>
          </a:p>
          <a:p>
            <a:pPr lvl="1"/>
            <a:r>
              <a:rPr lang="fr-FR" dirty="0" smtClean="0"/>
              <a:t> </a:t>
            </a:r>
            <a:r>
              <a:rPr lang="fr-FR" dirty="0"/>
              <a:t>densité</a:t>
            </a:r>
          </a:p>
          <a:p>
            <a:pPr marL="457200" lvl="1" indent="0">
              <a:buNone/>
            </a:pPr>
            <a:r>
              <a:rPr lang="fr-FR" dirty="0" smtClean="0"/>
              <a:t>nombre </a:t>
            </a:r>
            <a:r>
              <a:rPr lang="fr-FR" dirty="0"/>
              <a:t>de points dans chaque cluster</a:t>
            </a:r>
          </a:p>
          <a:p>
            <a:pPr lvl="1"/>
            <a:r>
              <a:rPr lang="fr-FR" dirty="0" err="1" smtClean="0"/>
              <a:t>stop_ratio</a:t>
            </a:r>
            <a:endParaRPr lang="fr-FR" dirty="0"/>
          </a:p>
          <a:p>
            <a:pPr marL="457200" lvl="1" indent="0">
              <a:buNone/>
            </a:pPr>
            <a:r>
              <a:rPr lang="fr-FR" dirty="0" smtClean="0"/>
              <a:t> </a:t>
            </a:r>
            <a:r>
              <a:rPr lang="fr-FR" dirty="0"/>
              <a:t>proportion de touristes à l’arrêt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352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900544"/>
            <a:ext cx="11644746" cy="5652655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2.Analyse de la fluidité: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054173"/>
              </p:ext>
            </p:extLst>
          </p:nvPr>
        </p:nvGraphicFramePr>
        <p:xfrm>
          <a:off x="547254" y="20505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7009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9340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indicateur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question répondue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07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 err="1"/>
                        <a:t>speed_mean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les gens vont vite ou lentement 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165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density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combien de personnes sont là 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6894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stop_ratio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est-ce qu’ils s’arrêtent 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05257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7254" y="4177723"/>
            <a:ext cx="7647709" cy="1711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une vraie fluidité touristique dépend de 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vitesse </a:t>
            </a:r>
            <a:r>
              <a:rPr lang="fr-FR" dirty="0"/>
              <a:t>(mobilité)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densité </a:t>
            </a:r>
            <a:r>
              <a:rPr lang="fr-FR" dirty="0"/>
              <a:t>(pression humaine)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smtClean="0"/>
              <a:t>arrêts </a:t>
            </a:r>
            <a:r>
              <a:rPr lang="fr-FR" dirty="0"/>
              <a:t>(blocage)</a:t>
            </a:r>
          </a:p>
        </p:txBody>
      </p:sp>
    </p:spTree>
    <p:extLst>
      <p:ext uri="{BB962C8B-B14F-4D97-AF65-F5344CB8AC3E}">
        <p14:creationId xmlns:p14="http://schemas.microsoft.com/office/powerpoint/2010/main" val="75409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748145"/>
            <a:ext cx="11644746" cy="58050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/>
              <a:t>2.Analyse de la fluidité: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 smtClean="0"/>
              <a:t>Calcul </a:t>
            </a:r>
            <a:r>
              <a:rPr lang="fr-FR" sz="2400" dirty="0"/>
              <a:t>du score de </a:t>
            </a:r>
            <a:r>
              <a:rPr lang="fr-FR" sz="2400" dirty="0" smtClean="0"/>
              <a:t>fluidité:</a:t>
            </a:r>
          </a:p>
          <a:p>
            <a:pPr marL="0" indent="0">
              <a:buNone/>
            </a:pPr>
            <a:r>
              <a:rPr lang="fr-FR" sz="2400" dirty="0" smtClean="0"/>
              <a:t>Combiner les </a:t>
            </a:r>
            <a:r>
              <a:rPr lang="fr-FR" sz="2400" dirty="0"/>
              <a:t>indicateurs pour créer une métrique globale 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vitesse 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densité 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arrêts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Création du tableau final:</a:t>
            </a:r>
          </a:p>
          <a:p>
            <a:pPr marL="0" indent="0">
              <a:buNone/>
            </a:pPr>
            <a:r>
              <a:rPr lang="en-US" sz="2400" dirty="0" err="1" smtClean="0"/>
              <a:t>construire</a:t>
            </a:r>
            <a:r>
              <a:rPr lang="en-US" sz="2400" dirty="0" smtClean="0"/>
              <a:t> </a:t>
            </a:r>
            <a:r>
              <a:rPr lang="en-US" sz="2400" dirty="0"/>
              <a:t>un </a:t>
            </a:r>
            <a:r>
              <a:rPr lang="en-US" sz="2400" dirty="0" err="1"/>
              <a:t>DataFrame</a:t>
            </a:r>
            <a:r>
              <a:rPr lang="en-US" sz="2400" dirty="0"/>
              <a:t> résumé :</a:t>
            </a:r>
          </a:p>
          <a:p>
            <a:r>
              <a:rPr lang="en-US" sz="2400" dirty="0" err="1"/>
              <a:t>speed_mean</a:t>
            </a:r>
            <a:r>
              <a:rPr lang="en-US" sz="2400" dirty="0"/>
              <a:t> </a:t>
            </a:r>
          </a:p>
          <a:p>
            <a:r>
              <a:rPr lang="en-US" sz="2400" dirty="0"/>
              <a:t>density </a:t>
            </a:r>
          </a:p>
          <a:p>
            <a:r>
              <a:rPr lang="en-US" sz="2400" dirty="0" err="1"/>
              <a:t>stop_ratio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fluidity_score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49432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748145"/>
            <a:ext cx="11644746" cy="5805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2.Analyse de la fluidité: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 smtClean="0"/>
              <a:t>Classement des zones:</a:t>
            </a:r>
          </a:p>
          <a:p>
            <a:pPr marL="0" indent="0">
              <a:buNone/>
            </a:pPr>
            <a:r>
              <a:rPr lang="fr-FR" sz="2400" dirty="0" smtClean="0"/>
              <a:t>trier </a:t>
            </a:r>
            <a:r>
              <a:rPr lang="fr-FR" sz="2400" dirty="0"/>
              <a:t>les clusters selon la fluidité :</a:t>
            </a:r>
          </a:p>
          <a:p>
            <a:r>
              <a:rPr lang="fr-FR" sz="2400" dirty="0"/>
              <a:t>du plus fluide </a:t>
            </a:r>
          </a:p>
          <a:p>
            <a:r>
              <a:rPr lang="fr-FR" sz="2400" dirty="0"/>
              <a:t>au plus congestionné 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1363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45" y="1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4: Analyse de fluidité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745" y="748145"/>
            <a:ext cx="11644746" cy="5805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2.Analyse de la fluidité: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 smtClean="0"/>
              <a:t> 1 fichier fluidity_result.csv est généré</a:t>
            </a:r>
            <a:endParaRPr lang="fr-FR" sz="2400" dirty="0"/>
          </a:p>
          <a:p>
            <a:pPr marL="0" indent="0">
              <a:lnSpc>
                <a:spcPct val="150000"/>
              </a:lnSpc>
              <a:buNone/>
            </a:pPr>
            <a:endParaRPr lang="fr-FR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021" y="3488747"/>
            <a:ext cx="5239616" cy="216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7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82" y="226579"/>
            <a:ext cx="10515600" cy="535421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Couche 5:Visualisation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886691"/>
            <a:ext cx="11942618" cy="5652654"/>
          </a:xfrm>
        </p:spPr>
        <p:txBody>
          <a:bodyPr>
            <a:normAutofit/>
          </a:bodyPr>
          <a:lstStyle/>
          <a:p>
            <a:r>
              <a:rPr lang="fr-FR" sz="2400" dirty="0"/>
              <a:t>C’est </a:t>
            </a:r>
            <a:r>
              <a:rPr lang="fr-FR" sz="2400" b="1" dirty="0"/>
              <a:t>l’interface entre </a:t>
            </a:r>
            <a:r>
              <a:rPr lang="fr-FR" sz="2400" b="1" dirty="0" smtClean="0"/>
              <a:t>le modèle </a:t>
            </a:r>
            <a:r>
              <a:rPr lang="fr-FR" sz="2400" b="1" dirty="0"/>
              <a:t>et l’utilisateur</a:t>
            </a:r>
            <a:r>
              <a:rPr lang="fr-FR" sz="2400" dirty="0"/>
              <a:t> : elle transforme des calculs (clusters, fluidité…) en quelque chose de compréhensible et exploitable</a:t>
            </a:r>
            <a:r>
              <a:rPr lang="fr-FR" sz="2400" dirty="0" smtClean="0"/>
              <a:t>.</a:t>
            </a:r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 smtClean="0"/>
              <a:t>On utilise </a:t>
            </a:r>
            <a:r>
              <a:rPr lang="fr-FR" sz="2400" dirty="0" err="1" smtClean="0"/>
              <a:t>Folium</a:t>
            </a:r>
            <a:r>
              <a:rPr lang="fr-FR" sz="2400" dirty="0"/>
              <a:t> qui permet d’afficher des cartes interactives.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957096"/>
              </p:ext>
            </p:extLst>
          </p:nvPr>
        </p:nvGraphicFramePr>
        <p:xfrm>
          <a:off x="477982" y="239416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105106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5415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Donnée calculée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Représentation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914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cluster DBSCAN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zone (cercle)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922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centroid (lat/lon)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position du cercle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19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fluidity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couleur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52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densité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taille du cercle (optionnel)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45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82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101888"/>
            <a:ext cx="10515600" cy="535421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5:Visualisation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955964"/>
            <a:ext cx="11693236" cy="560892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traduction directe </a:t>
            </a:r>
            <a:r>
              <a:rPr lang="fr-FR" dirty="0" smtClean="0"/>
              <a:t>de </a:t>
            </a:r>
            <a:r>
              <a:rPr lang="fr-FR" b="1" dirty="0" smtClean="0"/>
              <a:t>score </a:t>
            </a:r>
            <a:r>
              <a:rPr lang="fr-FR" b="1" dirty="0"/>
              <a:t>de fluidité</a:t>
            </a:r>
            <a:endParaRPr lang="fr-FR" dirty="0" smtClean="0"/>
          </a:p>
          <a:p>
            <a:r>
              <a:rPr lang="fr-FR" dirty="0" smtClean="0"/>
              <a:t>vert </a:t>
            </a:r>
            <a:r>
              <a:rPr lang="fr-FR" dirty="0"/>
              <a:t>→ fluide </a:t>
            </a:r>
          </a:p>
          <a:p>
            <a:r>
              <a:rPr lang="fr-FR" dirty="0" smtClean="0"/>
              <a:t>jaune </a:t>
            </a:r>
            <a:r>
              <a:rPr lang="fr-FR" dirty="0"/>
              <a:t>→ moyen </a:t>
            </a:r>
          </a:p>
          <a:p>
            <a:r>
              <a:rPr lang="fr-FR" dirty="0" smtClean="0"/>
              <a:t>rouge </a:t>
            </a:r>
            <a:r>
              <a:rPr lang="fr-FR" dirty="0"/>
              <a:t>→ congestion </a:t>
            </a:r>
          </a:p>
        </p:txBody>
      </p:sp>
    </p:spTree>
    <p:extLst>
      <p:ext uri="{BB962C8B-B14F-4D97-AF65-F5344CB8AC3E}">
        <p14:creationId xmlns:p14="http://schemas.microsoft.com/office/powerpoint/2010/main" val="296340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28" y="748144"/>
            <a:ext cx="11783290" cy="5902037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Ajouter le </a:t>
            </a:r>
            <a:r>
              <a:rPr lang="fr-FR" dirty="0" err="1" smtClean="0"/>
              <a:t>HeatMap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328" y="115744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5:Visualisation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9328" y="1518699"/>
            <a:ext cx="117832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800" dirty="0"/>
              <a:t>La </a:t>
            </a:r>
            <a:r>
              <a:rPr lang="fr-FR" altLang="fr-FR" sz="2800" dirty="0" err="1"/>
              <a:t>HeatMap</a:t>
            </a:r>
            <a:r>
              <a:rPr lang="fr-FR" altLang="fr-FR" sz="2800" dirty="0"/>
              <a:t> montre </a:t>
            </a:r>
            <a:r>
              <a:rPr lang="fr-FR" altLang="fr-FR" sz="2800" dirty="0" smtClean="0"/>
              <a:t>l’intensité </a:t>
            </a:r>
            <a:r>
              <a:rPr lang="fr-FR" altLang="fr-FR" sz="2800" dirty="0"/>
              <a:t>réelle des déplacements point par point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60218" y="2360334"/>
            <a:ext cx="774469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800" dirty="0"/>
              <a:t>Un cluster te dit :“il y a une zone ici”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2800" dirty="0"/>
              <a:t> MAIS il ne dit pas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où est le point le plus dense dans cette zone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si toute la zone est uniforme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2800" dirty="0"/>
              <a:t>s’il y a un “</a:t>
            </a:r>
            <a:r>
              <a:rPr lang="fr-FR" altLang="fr-FR" sz="2800" dirty="0" err="1"/>
              <a:t>hotspot</a:t>
            </a:r>
            <a:r>
              <a:rPr lang="fr-FR" altLang="fr-FR" sz="2800" dirty="0"/>
              <a:t>”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2800" dirty="0"/>
          </a:p>
        </p:txBody>
      </p:sp>
    </p:spTree>
    <p:extLst>
      <p:ext uri="{BB962C8B-B14F-4D97-AF65-F5344CB8AC3E}">
        <p14:creationId xmlns:p14="http://schemas.microsoft.com/office/powerpoint/2010/main" val="381435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09" y="143454"/>
            <a:ext cx="10515600" cy="784802"/>
          </a:xfrm>
        </p:spPr>
        <p:txBody>
          <a:bodyPr/>
          <a:lstStyle/>
          <a:p>
            <a:r>
              <a:rPr lang="fr-FR" dirty="0"/>
              <a:t>Couche 5:Visualisation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877" y="2391569"/>
            <a:ext cx="78105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9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57308"/>
            <a:ext cx="10515600" cy="57698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Couche 6:FeedBack Loop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55964"/>
            <a:ext cx="11637818" cy="5749636"/>
          </a:xfrm>
        </p:spPr>
        <p:txBody>
          <a:bodyPr/>
          <a:lstStyle/>
          <a:p>
            <a:r>
              <a:rPr lang="fr-FR" dirty="0"/>
              <a:t>Actuellement </a:t>
            </a:r>
            <a:r>
              <a:rPr lang="fr-FR" dirty="0" smtClean="0"/>
              <a:t>le système fait :</a:t>
            </a:r>
          </a:p>
          <a:p>
            <a:pPr marL="0" indent="0">
              <a:buNone/>
            </a:pPr>
            <a:r>
              <a:rPr lang="fr-FR" dirty="0"/>
              <a:t>Data → DBSCAN → Fluidité → </a:t>
            </a:r>
            <a:r>
              <a:rPr lang="fr-FR" dirty="0" smtClean="0"/>
              <a:t>Visualisation (statique)</a:t>
            </a:r>
          </a:p>
          <a:p>
            <a:pPr marL="0" indent="0">
              <a:buNone/>
            </a:pPr>
            <a:endParaRPr lang="fr-FR" dirty="0" smtClean="0"/>
          </a:p>
          <a:p>
            <a:r>
              <a:rPr lang="fr-FR" dirty="0"/>
              <a:t>Avec une feedback </a:t>
            </a:r>
            <a:r>
              <a:rPr lang="fr-FR" dirty="0" err="1"/>
              <a:t>loop</a:t>
            </a:r>
            <a:r>
              <a:rPr lang="fr-FR" dirty="0"/>
              <a:t>, </a:t>
            </a:r>
            <a:r>
              <a:rPr lang="fr-FR" dirty="0" smtClean="0"/>
              <a:t>le système passe </a:t>
            </a:r>
            <a:r>
              <a:rPr lang="fr-FR" dirty="0"/>
              <a:t>à 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r>
              <a:rPr lang="fr-FR" dirty="0"/>
              <a:t>Data → Analyse → Score → Décision → Modification du comportement → nouvelle simulation</a:t>
            </a:r>
          </a:p>
        </p:txBody>
      </p:sp>
    </p:spTree>
    <p:extLst>
      <p:ext uri="{BB962C8B-B14F-4D97-AF65-F5344CB8AC3E}">
        <p14:creationId xmlns:p14="http://schemas.microsoft.com/office/powerpoint/2010/main" val="17881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0"/>
            <a:ext cx="10515600" cy="692727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6:FeedBack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4" y="692727"/>
            <a:ext cx="11811000" cy="5915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Avec feedback </a:t>
            </a:r>
            <a:r>
              <a:rPr lang="fr-FR" dirty="0" err="1"/>
              <a:t>loop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Si un cluster est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faible fluidité </a:t>
            </a:r>
            <a:endParaRPr lang="fr-FR" dirty="0" smtClean="0"/>
          </a:p>
          <a:p>
            <a:pPr marL="0" indent="0">
              <a:buNone/>
            </a:pPr>
            <a:r>
              <a:rPr lang="fr-FR" sz="2800" dirty="0" smtClean="0"/>
              <a:t>modifier </a:t>
            </a:r>
            <a:r>
              <a:rPr lang="fr-FR" sz="2800" dirty="0"/>
              <a:t>le comportement :</a:t>
            </a:r>
          </a:p>
          <a:p>
            <a:pPr lvl="1"/>
            <a:r>
              <a:rPr lang="fr-FR" sz="2800" dirty="0"/>
              <a:t>ralentissement des agents </a:t>
            </a:r>
          </a:p>
          <a:p>
            <a:pPr lvl="1"/>
            <a:r>
              <a:rPr lang="fr-FR" sz="2800" dirty="0"/>
              <a:t>redirection vers zones moins denses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forte fluidité</a:t>
            </a:r>
          </a:p>
          <a:p>
            <a:pPr marL="457200" lvl="1" indent="0">
              <a:buNone/>
            </a:pPr>
            <a:r>
              <a:rPr lang="fr-FR" sz="2800" dirty="0" smtClean="0"/>
              <a:t>encourager </a:t>
            </a:r>
            <a:r>
              <a:rPr lang="fr-FR" sz="2800" dirty="0"/>
              <a:t>:</a:t>
            </a:r>
          </a:p>
          <a:p>
            <a:pPr lvl="1"/>
            <a:r>
              <a:rPr lang="fr-FR" sz="2800" dirty="0"/>
              <a:t>plus d’agents attirés </a:t>
            </a:r>
          </a:p>
          <a:p>
            <a:pPr lvl="1"/>
            <a:r>
              <a:rPr lang="fr-FR" sz="2800" dirty="0"/>
              <a:t>augmentation fréquentation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91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0"/>
            <a:ext cx="10515600" cy="692727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6:FeedBack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4" y="817418"/>
            <a:ext cx="11811000" cy="5791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dirty="0"/>
              <a:t>Le système lit les données </a:t>
            </a:r>
            <a:r>
              <a:rPr lang="fr-FR" sz="2400" dirty="0" smtClean="0"/>
              <a:t>:</a:t>
            </a:r>
          </a:p>
          <a:p>
            <a:pPr marL="0" indent="0">
              <a:buNone/>
            </a:pPr>
            <a:r>
              <a:rPr lang="fr-FR" sz="2400" dirty="0" smtClean="0"/>
              <a:t>speed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dirty="0" err="1"/>
              <a:t>density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dirty="0" err="1"/>
              <a:t>stop_ratio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dirty="0" err="1" smtClean="0"/>
              <a:t>fluidity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Le système applique des </a:t>
            </a:r>
            <a:r>
              <a:rPr lang="fr-FR" sz="2400" dirty="0" err="1" smtClean="0"/>
              <a:t>régles</a:t>
            </a:r>
            <a:r>
              <a:rPr lang="fr-FR" sz="2400" dirty="0" smtClean="0"/>
              <a:t>:</a:t>
            </a:r>
          </a:p>
          <a:p>
            <a:pPr marL="0" indent="0">
              <a:buNone/>
            </a:pPr>
            <a:r>
              <a:rPr lang="en-US" sz="2400" dirty="0"/>
              <a:t>if fluidity &lt; </a:t>
            </a:r>
            <a:r>
              <a:rPr lang="en-US" sz="2400" dirty="0" smtClean="0"/>
              <a:t>0.33: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action = "AVOID</a:t>
            </a:r>
            <a:r>
              <a:rPr lang="en-US" sz="2400" dirty="0" smtClean="0"/>
              <a:t>"</a:t>
            </a:r>
          </a:p>
          <a:p>
            <a:pPr marL="0" indent="0">
              <a:buNone/>
            </a:pPr>
            <a:r>
              <a:rPr lang="fr-FR" sz="2400" dirty="0"/>
              <a:t>Le système modifie le comportement </a:t>
            </a:r>
            <a:r>
              <a:rPr lang="fr-FR" sz="2400" dirty="0" smtClean="0"/>
              <a:t>en changeant la vitesse</a:t>
            </a:r>
          </a:p>
          <a:p>
            <a:pPr marL="0" indent="0">
              <a:buNone/>
            </a:pPr>
            <a:r>
              <a:rPr lang="fr-FR" sz="2400" dirty="0"/>
              <a:t>Après modification :</a:t>
            </a:r>
          </a:p>
          <a:p>
            <a:pPr lvl="1"/>
            <a:r>
              <a:rPr lang="fr-FR" sz="2000" dirty="0"/>
              <a:t>les vitesses changent, </a:t>
            </a:r>
          </a:p>
          <a:p>
            <a:pPr lvl="1"/>
            <a:r>
              <a:rPr lang="fr-FR" sz="2000" dirty="0"/>
              <a:t>les trajectoires changent, </a:t>
            </a:r>
          </a:p>
          <a:p>
            <a:pPr lvl="1"/>
            <a:r>
              <a:rPr lang="fr-FR" sz="2000" dirty="0"/>
              <a:t>la densité change, </a:t>
            </a:r>
          </a:p>
          <a:p>
            <a:pPr lvl="1"/>
            <a:r>
              <a:rPr lang="fr-FR" sz="2000" dirty="0"/>
              <a:t>la fluidité change. </a:t>
            </a:r>
          </a:p>
          <a:p>
            <a:pPr marL="0" indent="0">
              <a:buNone/>
            </a:pPr>
            <a:r>
              <a:rPr lang="fr-FR" sz="2400" dirty="0"/>
              <a:t>Le système recommence alors l’analyse.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1964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64" y="0"/>
            <a:ext cx="10515600" cy="692727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6:FeedBack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64" y="1163782"/>
            <a:ext cx="11811000" cy="5444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/>
              <a:t>Le </a:t>
            </a:r>
            <a:r>
              <a:rPr lang="fr-FR" dirty="0"/>
              <a:t>feedback actif modifie le comportement futur des </a:t>
            </a:r>
            <a:r>
              <a:rPr lang="fr-FR" dirty="0" smtClean="0"/>
              <a:t>agents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32" y="1994621"/>
            <a:ext cx="5183332" cy="7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18" y="101889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fr-FR" dirty="0"/>
              <a:t>Couche 6:FeedBack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18" y="568037"/>
            <a:ext cx="11866418" cy="5915890"/>
          </a:xfrm>
        </p:spPr>
        <p:txBody>
          <a:bodyPr/>
          <a:lstStyle/>
          <a:p>
            <a:r>
              <a:rPr lang="fr-FR" dirty="0"/>
              <a:t>La </a:t>
            </a:r>
            <a:r>
              <a:rPr lang="fr-FR" dirty="0" smtClean="0"/>
              <a:t>visualisation:</a:t>
            </a:r>
          </a:p>
          <a:p>
            <a:r>
              <a:rPr lang="fr-FR" sz="2400" dirty="0" smtClean="0"/>
              <a:t>Les </a:t>
            </a:r>
            <a:r>
              <a:rPr lang="fr-FR" sz="2400" dirty="0"/>
              <a:t>zones vertes représentent des espaces fluides et attractifs, </a:t>
            </a:r>
            <a:endParaRPr lang="fr-FR" sz="2400" dirty="0" smtClean="0"/>
          </a:p>
          <a:p>
            <a:r>
              <a:rPr lang="fr-FR" sz="2400" dirty="0" smtClean="0"/>
              <a:t>la </a:t>
            </a:r>
            <a:r>
              <a:rPr lang="fr-FR" sz="2400" dirty="0"/>
              <a:t>zone rouge indique une congestion détectée automatiquement par le Digital </a:t>
            </a:r>
            <a:r>
              <a:rPr lang="fr-FR" sz="2400" dirty="0" err="1"/>
              <a:t>Twin</a:t>
            </a:r>
            <a:r>
              <a:rPr lang="fr-FR" sz="2400" dirty="0"/>
              <a:t>. </a:t>
            </a:r>
            <a:endParaRPr lang="fr-FR" sz="2400" dirty="0" smtClean="0"/>
          </a:p>
          <a:p>
            <a:r>
              <a:rPr lang="fr-FR" sz="2400" dirty="0"/>
              <a:t>La zone orange représente une situation intermédiaire où la fluidité est </a:t>
            </a:r>
            <a:r>
              <a:rPr lang="fr-FR" sz="2400" dirty="0" smtClean="0"/>
              <a:t>moyenne</a:t>
            </a:r>
            <a:endParaRPr lang="fr-FR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1" y="2770910"/>
            <a:ext cx="5618018" cy="34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1554</Words>
  <Application>Microsoft Office PowerPoint</Application>
  <PresentationFormat>Widescreen</PresentationFormat>
  <Paragraphs>358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Présentation</vt:lpstr>
      <vt:lpstr>Objectif</vt:lpstr>
      <vt:lpstr>Architecture Digital Twin &amp; Fluidité Touristique</vt:lpstr>
      <vt:lpstr>Couche 1:Data Layer</vt:lpstr>
      <vt:lpstr>Couche 1:Data Layer</vt:lpstr>
      <vt:lpstr>Couche 1:Data Layer</vt:lpstr>
      <vt:lpstr>Résultat</vt:lpstr>
      <vt:lpstr>Couche 2:Digital Twin</vt:lpstr>
      <vt:lpstr>Couche 2:Digital Twin</vt:lpstr>
      <vt:lpstr>Couche 2:Digital Twin</vt:lpstr>
      <vt:lpstr>Couche 2:Digital Twin</vt:lpstr>
      <vt:lpstr>Couche 3: Simulation Multi Touristes </vt:lpstr>
      <vt:lpstr>Couche 3: Simulation Multi Touristes </vt:lpstr>
      <vt:lpstr>Couche 3: Simulation Multi Touristes </vt:lpstr>
      <vt:lpstr>Couche 3: Simulation Multi Touristes 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4: Analyse de fluidité</vt:lpstr>
      <vt:lpstr>Couche 5:Visualisation</vt:lpstr>
      <vt:lpstr>Couche 5:Visualisation</vt:lpstr>
      <vt:lpstr>Couche 5:Visualisation</vt:lpstr>
      <vt:lpstr>Couche 5:Visualisation</vt:lpstr>
      <vt:lpstr>Couche 6:FeedBack Loop</vt:lpstr>
      <vt:lpstr>Couche 6:FeedBack Loop</vt:lpstr>
      <vt:lpstr>Couche 6:FeedBack Loop</vt:lpstr>
      <vt:lpstr>Couche 6:FeedBack Loop</vt:lpstr>
      <vt:lpstr>Couche 6:FeedBack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Republic Of Computer</dc:creator>
  <cp:lastModifiedBy>Republic Of Computer</cp:lastModifiedBy>
  <cp:revision>237</cp:revision>
  <dcterms:created xsi:type="dcterms:W3CDTF">2026-04-23T21:34:11Z</dcterms:created>
  <dcterms:modified xsi:type="dcterms:W3CDTF">2026-06-05T23:39:35Z</dcterms:modified>
</cp:coreProperties>
</file>